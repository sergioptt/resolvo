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e49a7233d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e49a7233d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ddb7ea0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e4ddb7ea0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4ddb7ea0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e4ddb7ea0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4ddb7ea0a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e4ddb7ea0a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4ddb7ea0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e4ddb7ea0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4ddb7ea0a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e4ddb7ea0a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738650" y="278338"/>
            <a:ext cx="56667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rgbClr val="1F57F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Proyecto</a:t>
            </a:r>
            <a:r>
              <a:rPr lang="es" sz="3400">
                <a:solidFill>
                  <a:srgbClr val="15215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Fin de Grado Superior</a:t>
            </a:r>
            <a:endParaRPr sz="53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845400" y="4212875"/>
            <a:ext cx="2298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1521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Belén Marín Sánchez</a:t>
            </a:r>
            <a:br>
              <a:rPr lang="es" sz="1700">
                <a:solidFill>
                  <a:srgbClr val="1521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" sz="1700">
                <a:solidFill>
                  <a:srgbClr val="1521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Sergio Paredes Nieves</a:t>
            </a:r>
            <a:endParaRPr sz="1700">
              <a:solidFill>
                <a:srgbClr val="1521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1521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Marcos Merino Sánchez</a:t>
            </a:r>
            <a:endParaRPr sz="1700">
              <a:solidFill>
                <a:srgbClr val="1521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5163" y="1498738"/>
            <a:ext cx="3906785" cy="22929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226425" y="4058975"/>
            <a:ext cx="3720000" cy="9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s" sz="1500">
                <a:solidFill>
                  <a:srgbClr val="1F57F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Promoción 2022/2024</a:t>
            </a:r>
            <a:endParaRPr sz="1500">
              <a:solidFill>
                <a:srgbClr val="1F57F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s" sz="1500">
                <a:solidFill>
                  <a:srgbClr val="1F57F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Desarrollo de Aplicaciones Web</a:t>
            </a:r>
            <a:endParaRPr sz="1500">
              <a:solidFill>
                <a:srgbClr val="1F57F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s" sz="1500">
                <a:solidFill>
                  <a:srgbClr val="1F57F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Desarrollo de Aplicaciones Multiplataforma</a:t>
            </a:r>
            <a:endParaRPr sz="1500">
              <a:solidFill>
                <a:srgbClr val="1F57F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7575" y="242188"/>
            <a:ext cx="809625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921600" y="422775"/>
            <a:ext cx="197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 u="sng">
                <a:solidFill>
                  <a:srgbClr val="1521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</a:t>
            </a:r>
            <a:endParaRPr sz="2820" u="sng">
              <a:solidFill>
                <a:srgbClr val="1521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439800" y="1386700"/>
            <a:ext cx="3093300" cy="13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s" sz="1525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de Datos:</a:t>
            </a:r>
            <a:endParaRPr b="1" sz="1525">
              <a:solidFill>
                <a:srgbClr val="1F57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437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25"/>
              <a:buFont typeface="Times New Roman"/>
              <a:buChar char="-"/>
            </a:pPr>
            <a:r>
              <a:rPr lang="es" sz="15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Semi </a:t>
            </a:r>
            <a:r>
              <a:rPr lang="es" sz="15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Automática.</a:t>
            </a:r>
            <a:endParaRPr sz="152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437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5"/>
              <a:buFont typeface="Times New Roman"/>
              <a:buChar char="-"/>
            </a:pPr>
            <a:r>
              <a:rPr lang="es" sz="15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Cumplir con el Artículo 32 de la  Ley Orgánica 3/2018.</a:t>
            </a:r>
            <a:endParaRPr sz="152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439800" y="3245925"/>
            <a:ext cx="3093300" cy="10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" sz="1530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lang="es" sz="1530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 REST:</a:t>
            </a:r>
            <a:endParaRPr sz="1530">
              <a:solidFill>
                <a:srgbClr val="1F57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Times New Roman"/>
              <a:buChar char="-"/>
            </a:pP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Interoperabilidad.</a:t>
            </a:r>
            <a:endParaRPr sz="15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Times New Roman"/>
              <a:buChar char="-"/>
            </a:pP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Seguridad, SQL Parameter.</a:t>
            </a:r>
            <a:endParaRPr sz="15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6172425" y="1386700"/>
            <a:ext cx="2971500" cy="19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</a:t>
            </a:r>
            <a:r>
              <a:rPr b="1" lang="es" sz="1500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500">
              <a:solidFill>
                <a:srgbClr val="1F57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-"/>
            </a:pP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Realizar una web funcional que pueda ser usada por varios usuarios con diferentes acciones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657250" y="3245925"/>
            <a:ext cx="3093300" cy="10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s" sz="1525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Móvil</a:t>
            </a:r>
            <a:r>
              <a:rPr b="1" lang="es" sz="1525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525">
              <a:solidFill>
                <a:srgbClr val="1F57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437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25"/>
              <a:buFont typeface="Times New Roman"/>
              <a:buChar char="-"/>
            </a:pPr>
            <a:r>
              <a:rPr lang="es" sz="15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Enfrentar un </a:t>
            </a:r>
            <a:r>
              <a:rPr lang="es" sz="15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desafío.</a:t>
            </a:r>
            <a:endParaRPr sz="152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437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5"/>
              <a:buFont typeface="Times New Roman"/>
              <a:buChar char="-"/>
            </a:pPr>
            <a:r>
              <a:rPr lang="es" sz="15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Aprender a crear aplicaciones móviles consistentes.</a:t>
            </a:r>
            <a:endParaRPr sz="152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533100" y="1386700"/>
            <a:ext cx="3093300" cy="12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s" sz="1525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Escritorio</a:t>
            </a:r>
            <a:r>
              <a:rPr b="1" lang="es" sz="1525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525">
              <a:solidFill>
                <a:srgbClr val="1F57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437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25"/>
              <a:buFont typeface="Times New Roman"/>
              <a:buChar char="-"/>
            </a:pPr>
            <a:r>
              <a:rPr lang="es" sz="15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Actualizar conocimientos.</a:t>
            </a:r>
            <a:endParaRPr sz="152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437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5"/>
              <a:buFont typeface="Times New Roman"/>
              <a:buChar char="-"/>
            </a:pPr>
            <a:r>
              <a:rPr lang="es" sz="15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Reforzar competencias.</a:t>
            </a:r>
            <a:endParaRPr sz="152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437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5"/>
              <a:buFont typeface="Times New Roman"/>
              <a:buChar char="-"/>
            </a:pPr>
            <a:r>
              <a:rPr lang="es" sz="15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Enfrentar un desafío.</a:t>
            </a:r>
            <a:endParaRPr sz="152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525" y="422776"/>
            <a:ext cx="616373" cy="61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0825" y="4216713"/>
            <a:ext cx="809625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366838" y="355925"/>
            <a:ext cx="309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 u="sng">
                <a:solidFill>
                  <a:srgbClr val="1521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Tecnologías</a:t>
            </a:r>
            <a:r>
              <a:rPr lang="es" sz="2820" u="sng">
                <a:solidFill>
                  <a:srgbClr val="1521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usadas</a:t>
            </a:r>
            <a:endParaRPr sz="2820" u="sng">
              <a:solidFill>
                <a:srgbClr val="1521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467600" y="1393325"/>
            <a:ext cx="3961500" cy="33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de Datos:</a:t>
            </a:r>
            <a:endParaRPr b="1" sz="1700">
              <a:solidFill>
                <a:srgbClr val="1F57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Gestor de Base de Datos Relacionales: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Server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Interfaz Grafica: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Workbench</a:t>
            </a: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Lenguaje: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Lanzamiento de la Base de Datos (Servidor):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833500" y="1393325"/>
            <a:ext cx="3862500" cy="33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REST:</a:t>
            </a:r>
            <a:endParaRPr b="1" sz="1700">
              <a:solidFill>
                <a:srgbClr val="1F57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Interfaz de Entorno de desarrollo: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IntelliJ IDEA Ultimate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Lenguaje de programación: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</a:t>
            </a: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</a:t>
            </a: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Aplicación para probar las peticiones: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Postman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Conversión bidireccional de objetos y JSON: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Jackson</a:t>
            </a: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3850" y="400901"/>
            <a:ext cx="616373" cy="61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475" y="4216713"/>
            <a:ext cx="809625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2717163" y="331150"/>
            <a:ext cx="309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 u="sng">
                <a:solidFill>
                  <a:srgbClr val="1521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Tecnologías usadas</a:t>
            </a:r>
            <a:endParaRPr sz="2820" u="sng">
              <a:solidFill>
                <a:srgbClr val="1521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627500" y="1281700"/>
            <a:ext cx="4208400" cy="31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1700">
                <a:solidFill>
                  <a:srgbClr val="1F57F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Móvil:</a:t>
            </a:r>
            <a:endParaRPr b="1" sz="1700">
              <a:solidFill>
                <a:srgbClr val="1F57F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Interfaz de Entorno de desarrollo: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Android</a:t>
            </a: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Studio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Lenguaje de programación: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Kotlin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Librería para conectarse a la API REST: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Retrofit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Envío</a:t>
            </a: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correos: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Android Mail, Android Activation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Recoger firma del cliente: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 Pad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Encriptación de contraseñas: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SHA-256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639075" y="1281700"/>
            <a:ext cx="3866100" cy="31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Escritorio:</a:t>
            </a:r>
            <a:endParaRPr b="1" sz="1600">
              <a:solidFill>
                <a:srgbClr val="1F57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-"/>
            </a:pP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Interfaz de Entorno de desarrollo: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Studio Community 2022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-"/>
            </a:pP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Framework: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WPF</a:t>
            </a: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(Windows Presentation Foundation)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-"/>
            </a:pP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Lenguajes: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XAML</a:t>
            </a: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(front),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C# </a:t>
            </a: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(back)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-"/>
            </a:pP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Librería para conectarse a la API REST: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-"/>
            </a:pP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Librería para realizar consultas en Listas: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Linq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Encriptación</a:t>
            </a: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contraseñas: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SHA-256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463" y="375726"/>
            <a:ext cx="616373" cy="61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9700" y="4197263"/>
            <a:ext cx="809625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2102600" y="1049625"/>
            <a:ext cx="5686800" cy="37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Web:</a:t>
            </a:r>
            <a:endParaRPr b="1" sz="1700">
              <a:solidFill>
                <a:srgbClr val="1F57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Interfaz de Entorno de desarrollo: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</a:t>
            </a: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Studio</a:t>
            </a: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Lenguaje de Programación del lado del Front: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Lenguaje de Programación del lado del Back 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PHP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Etiquetado: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Estilo: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Entorno de ejecución del lado del Servidor de JS: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 de Estilo: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Tailwind</a:t>
            </a: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</a:t>
            </a: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</a:t>
            </a: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paquetes para PHP: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COMPOSER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biblioteca de envío de correo electrónico: </a:t>
            </a:r>
            <a:r>
              <a:rPr b="1" lang="e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PHPMailer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Encriptación de contraseñas: </a:t>
            </a:r>
            <a:r>
              <a:rPr b="1" lang="e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SHA-256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3383625" y="232100"/>
            <a:ext cx="309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 u="sng">
                <a:solidFill>
                  <a:srgbClr val="1521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Tecnologías usadas</a:t>
            </a:r>
            <a:endParaRPr sz="2820" u="sng">
              <a:solidFill>
                <a:srgbClr val="1521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50" y="287776"/>
            <a:ext cx="616373" cy="61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925" y="4205563"/>
            <a:ext cx="809625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504863" y="264850"/>
            <a:ext cx="25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 u="sng">
                <a:solidFill>
                  <a:srgbClr val="1521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Dificultades</a:t>
            </a:r>
            <a:endParaRPr sz="2820" u="sng">
              <a:solidFill>
                <a:srgbClr val="1521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418600" y="1198800"/>
            <a:ext cx="2538300" cy="22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" sz="1629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Marcos:</a:t>
            </a:r>
            <a:endParaRPr b="1" sz="1629">
              <a:solidFill>
                <a:srgbClr val="1F57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Times New Roman"/>
              <a:buChar char="-"/>
            </a:pP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Aprender </a:t>
            </a:r>
            <a:r>
              <a:rPr b="1"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</a:t>
            </a: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nuevos </a:t>
            </a:r>
            <a:r>
              <a:rPr b="1"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lenguajes</a:t>
            </a: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un patrón de diseño nuevo.</a:t>
            </a:r>
            <a:endParaRPr sz="15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Times New Roman"/>
              <a:buChar char="-"/>
            </a:pP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Crear un sistema de </a:t>
            </a: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mensajería</a:t>
            </a: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entre </a:t>
            </a:r>
            <a:r>
              <a:rPr b="1"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</a:t>
            </a: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Models.</a:t>
            </a:r>
            <a:endParaRPr b="1" sz="15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Times New Roman"/>
              <a:buChar char="-"/>
            </a:pP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Crear una base de datos </a:t>
            </a:r>
            <a:r>
              <a:rPr b="1"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semiautomática</a:t>
            </a: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Times New Roman"/>
              <a:buChar char="-"/>
            </a:pP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Diseñar completamente de cero una ventana.</a:t>
            </a:r>
            <a:endParaRPr sz="15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34775" y="1198800"/>
            <a:ext cx="3170100" cy="37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Belén</a:t>
            </a:r>
            <a:r>
              <a:rPr b="1" lang="es" sz="1600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600">
              <a:solidFill>
                <a:srgbClr val="1F57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-"/>
            </a:pP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Imposibilidad de conectarse a la Base de Datos directamente desde el teléfono Android.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-"/>
            </a:pP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Desarrollar una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</a:t>
            </a: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</a:t>
            </a: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mediante el uso de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Boot</a:t>
            </a: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-"/>
            </a:pP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Uso de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</a:t>
            </a: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-"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Navegación</a:t>
            </a: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entre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actividades </a:t>
            </a: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gestión de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estados</a:t>
            </a: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-"/>
            </a:pP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Pasar objetos y variables de una actividad a otra.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-"/>
            </a:pPr>
            <a:r>
              <a:rPr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Imágenes.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5892200" y="1198800"/>
            <a:ext cx="2928300" cy="29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F57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Sergio:</a:t>
            </a:r>
            <a:endParaRPr b="1" sz="1600">
              <a:solidFill>
                <a:srgbClr val="1F57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Times New Roman"/>
              <a:buChar char="-"/>
            </a:pP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Configuración del servidor </a:t>
            </a:r>
            <a:r>
              <a:rPr b="1"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smtp</a:t>
            </a: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 funcionamiento de los correos a través de la biblioteca  </a:t>
            </a:r>
            <a:r>
              <a:rPr b="1"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PHPMailer.</a:t>
            </a:r>
            <a:endParaRPr b="1" sz="15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Times New Roman"/>
              <a:buChar char="-"/>
            </a:pP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Dificultad de controlar varias opciones de los usuarios de  forma dinámica.</a:t>
            </a:r>
            <a:endParaRPr sz="15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Times New Roman"/>
              <a:buChar char="-"/>
            </a:pPr>
            <a:r>
              <a:rPr lang="es" sz="15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Mandar el envío de datos mediante servicios web con sus tipos de datos</a:t>
            </a:r>
            <a:endParaRPr sz="15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763" y="264851"/>
            <a:ext cx="616373" cy="61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7400" y="4205588"/>
            <a:ext cx="809625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idx="4294967295" type="ctrTitle"/>
          </p:nvPr>
        </p:nvSpPr>
        <p:spPr>
          <a:xfrm>
            <a:off x="1587538" y="331000"/>
            <a:ext cx="6023100" cy="7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300">
                <a:solidFill>
                  <a:srgbClr val="15215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¡Vamos a probar las </a:t>
            </a:r>
            <a:r>
              <a:rPr lang="es" sz="3300">
                <a:solidFill>
                  <a:srgbClr val="1F57F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Aplicaciones!</a:t>
            </a:r>
            <a:endParaRPr>
              <a:solidFill>
                <a:srgbClr val="1F57F1"/>
              </a:solidFill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7674" y="368400"/>
            <a:ext cx="782425" cy="7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624" y="368400"/>
            <a:ext cx="782425" cy="7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2313" y="1306125"/>
            <a:ext cx="2833575" cy="3306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